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40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44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Good morning everyone. My name is Collins Mtonga, and on behalf of our group, I'd like to present our project proposal for CSC6701.</a:t>
            </a:r>
          </a:p>
          <a:p>
            <a:endParaRPr dirty="0"/>
          </a:p>
          <a:p>
            <a:r>
              <a:rPr dirty="0"/>
              <a:t>Our proposal is titled: 'Predicting MDR-TB Treatment Outcomes Among Patients in Zambia Using Machine Learning.'</a:t>
            </a:r>
          </a:p>
          <a:p>
            <a:endParaRPr dirty="0"/>
          </a:p>
          <a:p>
            <a:r>
              <a:rPr dirty="0"/>
              <a:t>We are working with data from CIDRZ — the Centre for Infectious Disease Research in Zambia — and our goal is to use machine learning to help clinicians identify which MDR-TB patients are most at risk of poor outcomes, before it is too late to intervene.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start with why this matters.</a:t>
            </a:r>
          </a:p>
          <a:p>
            <a:endParaRPr/>
          </a:p>
          <a:p>
            <a:r>
              <a:t>Looking at the global picture — in 2024 alone, 10.7 million people fell ill with TB worldwide. Of those, 390,000 developed the drug-resistant form, MDR-TB, and 150,000 died from it. Critically, fewer than 40% of MDR-TB patients globally even accessed treatment.</a:t>
            </a:r>
          </a:p>
          <a:p>
            <a:endParaRPr/>
          </a:p>
          <a:p>
            <a:r>
              <a:t>Here in Zambia, the situation is just as serious. MDR-TB patients face three main poor outcomes: death, treatment failure, and loss to follow-up — meaning patients simply disappear from the system before completing treatment.</a:t>
            </a:r>
          </a:p>
          <a:p>
            <a:endParaRPr/>
          </a:p>
          <a:p>
            <a:r>
              <a:t>The clinical gap is this: right now, clinicians rely on generalized treatment protocols. There is no patient-specific, data-driven tool that tells a doctor on Day 1 — 'this particular patient is high risk, pay close attention.'</a:t>
            </a:r>
          </a:p>
          <a:p>
            <a:endParaRPr/>
          </a:p>
          <a:p>
            <a:r>
              <a:t>The opportunity we see is that CIDRZ already collects rich patient data routinely. We can use that data to shift care from reactive — waiting for a patient to deteriorate — to proactive — flagging them before things go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brings us to the core problem we are solving.</a:t>
            </a:r>
          </a:p>
          <a:p>
            <a:endParaRPr/>
          </a:p>
          <a:p>
            <a:r>
              <a:t>In Zambia, MDR-TB patients face poor treatment outcomes — including death, treatment failure, and loss to follow-up — yet clinicians currently have no validated, data-driven tool to identify high-risk patients at the time of diagnosis.</a:t>
            </a:r>
          </a:p>
          <a:p>
            <a:endParaRPr/>
          </a:p>
          <a:p>
            <a:r>
              <a:t>Our study aims to change that. We want to build a machine learning model that uses patient-level clinical and demographic data from CIDRZ to predict treatment outcomes — and use those predictions to enable targeted, early intervention.</a:t>
            </a:r>
          </a:p>
          <a:p>
            <a:endParaRPr/>
          </a:p>
          <a:p>
            <a:r>
              <a:t>Think of it as a bridge — between the clinical data that already exists, and the actionable insights that clinicians need but currently don't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address this problem, our project will answer three specific research questions.</a:t>
            </a:r>
          </a:p>
          <a:p>
            <a:endParaRPr/>
          </a:p>
          <a:p>
            <a:r>
              <a:t>Research Question 1: What clinical and demographic factors are most strongly associated with poor MDR-TB treatment outcomes in Zambia? In other words — is it age? Is it HIV status? Is it the district the patient lives in? We want to identify the key drivers.</a:t>
            </a:r>
          </a:p>
          <a:p>
            <a:endParaRPr/>
          </a:p>
          <a:p>
            <a:r>
              <a:t>Research Question 2: How accurately can machine learning models predict treatment outcomes — success, death, or loss to follow-up — using the routinely collected data we already have at CIDRZ? This tests whether ML actually adds value over existing approaches.</a:t>
            </a:r>
          </a:p>
          <a:p>
            <a:endParaRPr/>
          </a:p>
          <a:p>
            <a:r>
              <a:t>Research Question 3: How does HIV co-infection specifically influence the predicted risk of treatment failure? Given that Zambia has a very high HIV burden, and many MDR-TB patients are also HIV-positive, we want to quantify exactly how much HIV worsens outcomes — so that integrated TB-HIV care can be strengthened.</a:t>
            </a:r>
          </a:p>
          <a:p>
            <a:endParaRPr/>
          </a:p>
          <a:p>
            <a:r>
              <a:t>These three questions are deliberately open-ended — not yes or no questions — because we want our analysis to produce nuanced, actionable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talk about where our data will come from and what it will contain.</a:t>
            </a:r>
          </a:p>
          <a:p>
            <a:endParaRPr/>
          </a:p>
          <a:p>
            <a:r>
              <a:t>Our primary data source is CIDRZ — patient-level MDR-TB records collected as part of routine clinical care. This is a retrospective cohort design, meaning we will look back at historical patient records.</a:t>
            </a:r>
          </a:p>
          <a:p>
            <a:endParaRPr/>
          </a:p>
          <a:p>
            <a:r>
              <a:t>In terms of ethical access: we will obtain approval from the UNZA Ethics Review Committee — ERES — and authorization from the Zambia Ministry of Health. As someone working at CIDRZ, I am familiar with this process and it is a standard, structured pathway.</a:t>
            </a:r>
          </a:p>
          <a:p>
            <a:endParaRPr/>
          </a:p>
          <a:p>
            <a:r>
              <a:t>The variables we will use fall into four groups. Demographics — age, sex, and district of residence. Clinical baseline — HIV status, whether the patient is on ART, their baseline weight, and sputum smear results. Treatment variables — the drug regimen prescribed and how long treatment lasted. And finally, our target variable — the treatment outcome, which is one of four categories: success, died, lost to follow-up, or treatment failure.</a:t>
            </a:r>
          </a:p>
          <a:p>
            <a:endParaRPr/>
          </a:p>
          <a:p>
            <a:r>
              <a:t>As a secondary source, we will also draw on the WHO Global TB Database and Zambia's national TB programme reports for context and benchmarking.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let me walk you through our analytical framework.</a:t>
            </a:r>
          </a:p>
          <a:p>
            <a:endParaRPr/>
          </a:p>
          <a:p>
            <a:r>
              <a:t>This is fundamentally a Predictive Analytics project. We want to predict a future outcome — treatment success or failure — based on information collected at the start of treatment.</a:t>
            </a:r>
          </a:p>
          <a:p>
            <a:endParaRPr/>
          </a:p>
          <a:p>
            <a:r>
              <a:t>We will work through three phases.</a:t>
            </a:r>
          </a:p>
          <a:p>
            <a:endParaRPr/>
          </a:p>
          <a:p>
            <a:r>
              <a:t>Phase 1 is Data Preparation. We will clean the dataset, handle missing values, encode categorical variables, and conduct Exploratory Data Analysis in Python. This phase is critical — the quality of our model depends entirely on the quality of our data preparation.</a:t>
            </a:r>
          </a:p>
          <a:p>
            <a:endParaRPr/>
          </a:p>
          <a:p>
            <a:r>
              <a:t>Phase 2 is Modelling. We will start with Logistic Regression as our baseline model — this is a well-understood, interpretable method that gives us a benchmark. We will then move to more powerful ensemble methods: Random Forest and XGBoost. These models can capture complex, non-linear relationships in the data that Logistic Regression cannot.</a:t>
            </a:r>
          </a:p>
          <a:p>
            <a:endParaRPr/>
          </a:p>
          <a:p>
            <a:r>
              <a:t>Phase 3 is Evaluation and Explainability. We will evaluate model performance using Accuracy, AUC-ROC, Sensitivity, Specificity, and F1-Score. But crucially, we will also use SHAP values — Shapley Additive Explanations — to explain why the model makes each prediction. This is important because clinicians cannot act on a black-box model. SHAP allows us to say: 'this patient was flagged as high risk because of their HIV status and low baseline weight' — something a clinician can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 what do we expect to get out of this?</a:t>
            </a:r>
          </a:p>
          <a:p>
            <a:endParaRPr/>
          </a:p>
          <a:p>
            <a:r>
              <a:t>First, we expect to identify the top predictors of MDR-TB treatment failure specific to the Zambian context — because what drives outcomes here may differ from what has been found in China or Eastern Europe, where most existing ML studies have been done.</a:t>
            </a:r>
          </a:p>
          <a:p>
            <a:endParaRPr/>
          </a:p>
          <a:p>
            <a:r>
              <a:t>Second, we aim to produce a patient risk scoring tool — a simple score that clinicians at CIDRZ can use on Day 1 of treatment to flag patients who need closer follow-up.</a:t>
            </a:r>
          </a:p>
          <a:p>
            <a:endParaRPr/>
          </a:p>
          <a:p>
            <a:r>
              <a:t>Third, we will produce specific evidence on the role of HIV co-infection — helping to strengthen integrated TB-HIV care protocols.</a:t>
            </a:r>
          </a:p>
          <a:p>
            <a:endParaRPr/>
          </a:p>
          <a:p>
            <a:r>
              <a:t>And fourth, we will make policy recommendations directly to CIDRZ and the Ministry of Health — backed by data — on how to reduce loss to follow-up and improve treatment success rates nationally.</a:t>
            </a:r>
          </a:p>
          <a:p>
            <a:endParaRPr/>
          </a:p>
          <a:p>
            <a:r>
              <a:t>This is not just an academic exercise. The output is a tool that can be used in real clinical settings, by real healthcare workers, for real patients here in Zambia.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That concludes our proposal. In summary — we have a clear problem, a realistic data source, rigorous methods, and a meaningful real-world impact. We are confident this project will contribute genuinely to MDR-TB care in Zambia.</a:t>
            </a:r>
          </a:p>
          <a:p>
            <a:endParaRPr/>
          </a:p>
          <a:p>
            <a:r>
              <a:t>Thank you very much. We are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2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11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53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0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0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6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4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27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92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1918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60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1514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19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31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2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1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2"/>
            <a:ext cx="7268259" cy="1323974"/>
          </a:xfrm>
        </p:spPr>
        <p:txBody>
          <a:bodyPr>
            <a:normAutofit fontScale="90000"/>
          </a:bodyPr>
          <a:lstStyle/>
          <a:p>
            <a:r>
              <a:rPr dirty="0"/>
              <a:t>Predicting MDR-TB Treatment Outcomes Among Patients in Zambia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6241" y="4016547"/>
            <a:ext cx="6600451" cy="1126283"/>
          </a:xfrm>
        </p:spPr>
        <p:txBody>
          <a:bodyPr>
            <a:normAutofit lnSpcReduction="10000"/>
          </a:bodyPr>
          <a:lstStyle/>
          <a:p>
            <a:r>
              <a:rPr dirty="0"/>
              <a:t>Project Proposal for CSC6701</a:t>
            </a:r>
            <a:endParaRPr lang="en-ZM" dirty="0"/>
          </a:p>
          <a:p>
            <a:r>
              <a:rPr lang="en-US" dirty="0"/>
              <a:t>Presented</a:t>
            </a:r>
            <a:r>
              <a:rPr lang="en-ZM" dirty="0"/>
              <a:t> </a:t>
            </a:r>
            <a:r>
              <a:rPr lang="en-US" dirty="0"/>
              <a:t>by</a:t>
            </a:r>
            <a:r>
              <a:rPr lang="en-ZM" dirty="0"/>
              <a:t>: </a:t>
            </a:r>
            <a:endParaRPr lang="en-US" dirty="0"/>
          </a:p>
          <a:p>
            <a:r>
              <a:rPr lang="en-US" dirty="0"/>
              <a:t>Hendrix </a:t>
            </a:r>
            <a:r>
              <a:rPr lang="en-US" dirty="0" err="1"/>
              <a:t>Mungalu</a:t>
            </a:r>
            <a:endParaRPr lang="en-ZM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EF751-7DF7-8187-A84B-A692E6E7C7DE}"/>
              </a:ext>
            </a:extLst>
          </p:cNvPr>
          <p:cNvSpPr txBox="1"/>
          <p:nvPr/>
        </p:nvSpPr>
        <p:spPr>
          <a:xfrm>
            <a:off x="2031341" y="5452766"/>
            <a:ext cx="35452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dirty="0"/>
              <a:t>Name            .:</a:t>
            </a:r>
          </a:p>
          <a:p>
            <a:pPr>
              <a:defRPr/>
            </a:pPr>
            <a:r>
              <a:rPr lang="en-US" sz="1200" dirty="0"/>
              <a:t>Computer No:</a:t>
            </a:r>
          </a:p>
          <a:p>
            <a:pPr>
              <a:defRPr/>
            </a:pPr>
            <a:r>
              <a:rPr lang="en-US" sz="1200" dirty="0"/>
              <a:t>Mobile No:</a:t>
            </a:r>
          </a:p>
          <a:p>
            <a:pPr>
              <a:defRPr/>
            </a:pP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89DEE-47A2-659E-A490-4EEEB23E1B7D}"/>
              </a:ext>
            </a:extLst>
          </p:cNvPr>
          <p:cNvSpPr txBox="1"/>
          <p:nvPr/>
        </p:nvSpPr>
        <p:spPr>
          <a:xfrm>
            <a:off x="4824270" y="5407851"/>
            <a:ext cx="2322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dirty="0"/>
              <a:t>Collins Mtonga</a:t>
            </a:r>
          </a:p>
          <a:p>
            <a:pPr>
              <a:defRPr/>
            </a:pPr>
            <a:r>
              <a:rPr lang="en-US" sz="1200" dirty="0"/>
              <a:t>2025025986</a:t>
            </a:r>
          </a:p>
          <a:p>
            <a:pPr>
              <a:defRPr/>
            </a:pPr>
            <a:r>
              <a:rPr lang="en-US" sz="1200" dirty="0"/>
              <a:t>+260970009693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BC3DE-25EB-67BE-73FA-B0FB657AF8B3}"/>
              </a:ext>
            </a:extLst>
          </p:cNvPr>
          <p:cNvSpPr txBox="1"/>
          <p:nvPr/>
        </p:nvSpPr>
        <p:spPr>
          <a:xfrm>
            <a:off x="3435350" y="5452766"/>
            <a:ext cx="230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dirty="0"/>
              <a:t>Hendrix </a:t>
            </a:r>
            <a:r>
              <a:rPr lang="en-US" sz="1200" dirty="0" err="1"/>
              <a:t>Munga</a:t>
            </a:r>
            <a:endParaRPr lang="en-US" sz="1200" dirty="0"/>
          </a:p>
          <a:p>
            <a:pPr>
              <a:defRPr/>
            </a:pPr>
            <a:r>
              <a:rPr lang="en-US" sz="1200" dirty="0"/>
              <a:t>2025024350</a:t>
            </a:r>
          </a:p>
          <a:p>
            <a:pPr>
              <a:defRPr/>
            </a:pPr>
            <a:r>
              <a:rPr lang="en-US" sz="1200" dirty="0"/>
              <a:t>+260977480458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4A23C-405F-8D72-FCC7-5AF2B6CC7299}"/>
              </a:ext>
            </a:extLst>
          </p:cNvPr>
          <p:cNvSpPr txBox="1"/>
          <p:nvPr/>
        </p:nvSpPr>
        <p:spPr>
          <a:xfrm>
            <a:off x="6228279" y="5404716"/>
            <a:ext cx="2306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dirty="0" err="1"/>
              <a:t>Njavwa</a:t>
            </a:r>
            <a:r>
              <a:rPr lang="en-US" sz="1200" dirty="0"/>
              <a:t> </a:t>
            </a:r>
            <a:r>
              <a:rPr lang="en-US" sz="1200" dirty="0" err="1"/>
              <a:t>Silwamba</a:t>
            </a:r>
            <a:endParaRPr lang="en-US" sz="1200" dirty="0"/>
          </a:p>
          <a:p>
            <a:pPr>
              <a:defRPr/>
            </a:pPr>
            <a:r>
              <a:rPr lang="en-US" sz="1200" dirty="0"/>
              <a:t>2025024316</a:t>
            </a:r>
          </a:p>
          <a:p>
            <a:pPr>
              <a:defRPr/>
            </a:pPr>
            <a:r>
              <a:rPr lang="en-US" sz="1200" dirty="0"/>
              <a:t>+260956885597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2" y="624110"/>
            <a:ext cx="6312974" cy="1357090"/>
          </a:xfrm>
        </p:spPr>
        <p:txBody>
          <a:bodyPr/>
          <a:lstStyle/>
          <a:p>
            <a:r>
              <a:rPr dirty="0"/>
              <a:t>Background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825" y="1790700"/>
            <a:ext cx="7648575" cy="4443190"/>
          </a:xfrm>
        </p:spPr>
        <p:txBody>
          <a:bodyPr/>
          <a:lstStyle/>
          <a:p>
            <a:r>
              <a:rPr dirty="0"/>
              <a:t>Global TB Crisis (2024): 10.7M fell ill, 390K MDR-TB cases</a:t>
            </a:r>
          </a:p>
          <a:p>
            <a:r>
              <a:rPr dirty="0"/>
              <a:t>Zambia Context: High impact of death, treatment failure, and loss to follow-up</a:t>
            </a:r>
          </a:p>
          <a:p>
            <a:r>
              <a:rPr dirty="0"/>
              <a:t>Clinical Gap: Lack of patient-specific, data-driven diagnostic tools</a:t>
            </a:r>
          </a:p>
          <a:p>
            <a:r>
              <a:rPr dirty="0"/>
              <a:t>Opportunity: Leveraging rich CIDRZ patient data for proactive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Currently, clinicians lack reliable methods to foresee which MDR-TB patients will fail their treatment regimens. Because deteriorating conditions are often caught too late in the treatment cycle, opportunities for early life-saving interventions are missed, leading to poor patient outcomes and continued transmission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RQ1: </a:t>
            </a:r>
            <a:r>
              <a:rPr lang="en-US" dirty="0"/>
              <a:t>What clinical and demographic factors are most strongly associated with poor MDR-TB treatment outcomes in Zambia? </a:t>
            </a:r>
          </a:p>
          <a:p>
            <a:r>
              <a:rPr dirty="0"/>
              <a:t>RQ2:</a:t>
            </a:r>
            <a:r>
              <a:rPr lang="en-US" dirty="0"/>
              <a:t> How accurately can machine learning models predict treatment outcomes — success, death, or loss to follow-up</a:t>
            </a:r>
            <a:endParaRPr dirty="0"/>
          </a:p>
          <a:p>
            <a:r>
              <a:rPr dirty="0"/>
              <a:t>RQ3:</a:t>
            </a:r>
            <a:r>
              <a:rPr lang="en-US" dirty="0"/>
              <a:t> How does HIV co-infection specifically influence the predicted risk of treatment failure?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Source &amp;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Source: CIDRZ Patient Records (Retrospective Cohort)</a:t>
            </a:r>
          </a:p>
          <a:p>
            <a:r>
              <a:rPr dirty="0"/>
              <a:t>Ethics: UNZA ERES approval &amp; Ministry of Health authorization</a:t>
            </a:r>
          </a:p>
          <a:p>
            <a:r>
              <a:rPr dirty="0"/>
              <a:t>Variable Groups:</a:t>
            </a:r>
          </a:p>
          <a:p>
            <a:pPr lvl="1"/>
            <a:r>
              <a:rPr dirty="0"/>
              <a:t>   • Demographics (Age, Sex, District)</a:t>
            </a:r>
          </a:p>
          <a:p>
            <a:pPr lvl="1"/>
            <a:r>
              <a:rPr dirty="0"/>
              <a:t>   • Clinical Baseline (HIV, Weight, Smear)</a:t>
            </a:r>
          </a:p>
          <a:p>
            <a:pPr lvl="1"/>
            <a:r>
              <a:rPr dirty="0"/>
              <a:t>   • Treatment Variables (Regimen, Duration)</a:t>
            </a:r>
          </a:p>
          <a:p>
            <a:pPr lvl="1"/>
            <a:r>
              <a:rPr dirty="0"/>
              <a:t>   • Target Outcome (Success, Death, LTFU)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Methodology: Predictive Analytics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679" y="2133600"/>
            <a:ext cx="6818722" cy="3890128"/>
          </a:xfrm>
        </p:spPr>
        <p:txBody>
          <a:bodyPr/>
          <a:lstStyle/>
          <a:p>
            <a:r>
              <a:rPr dirty="0"/>
              <a:t>Phase 1: Data Preparation (Cleaning, EDA in Python)</a:t>
            </a:r>
          </a:p>
          <a:p>
            <a:r>
              <a:rPr dirty="0"/>
              <a:t>Phase 2: Modelling</a:t>
            </a:r>
          </a:p>
          <a:p>
            <a:pPr lvl="1"/>
            <a:r>
              <a:rPr dirty="0"/>
              <a:t>   Baseline: Logistic Regression</a:t>
            </a:r>
          </a:p>
          <a:p>
            <a:pPr lvl="1"/>
            <a:r>
              <a:rPr dirty="0"/>
              <a:t>    Advanced: Random Forest &amp; </a:t>
            </a:r>
            <a:r>
              <a:rPr dirty="0" err="1"/>
              <a:t>XGBoost</a:t>
            </a:r>
            <a:endParaRPr dirty="0"/>
          </a:p>
          <a:p>
            <a:r>
              <a:rPr dirty="0"/>
              <a:t>Phase 3: Evaluation (AUC-ROC, F1-Score)</a:t>
            </a:r>
          </a:p>
          <a:p>
            <a:r>
              <a:rPr dirty="0"/>
              <a:t>Explainability: SHAP values for clinical trust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Insights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Zambia-specific predictors of drug-resistant TB outcomes</a:t>
            </a:r>
          </a:p>
          <a:p>
            <a:r>
              <a:rPr dirty="0"/>
              <a:t>New patient risk scoring tool for Day 1 intervention</a:t>
            </a:r>
          </a:p>
          <a:p>
            <a:r>
              <a:rPr dirty="0"/>
              <a:t>Evidence for strengthening TB-HIV integrated care</a:t>
            </a:r>
          </a:p>
          <a:p>
            <a:r>
              <a:rPr dirty="0"/>
              <a:t>Data-driven policy recommendations for MoH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72</TotalTime>
  <Words>1624</Words>
  <Application>Microsoft Office PowerPoint</Application>
  <PresentationFormat>On-screen Show (4:3)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Predicting MDR-TB Treatment Outcomes Among Patients in Zambia Using Machine Learning</vt:lpstr>
      <vt:lpstr>Background &amp; Context</vt:lpstr>
      <vt:lpstr>Problem Statement</vt:lpstr>
      <vt:lpstr>Research Questions</vt:lpstr>
      <vt:lpstr>Data Source &amp; Variables</vt:lpstr>
      <vt:lpstr>Methodology: Predictive Analytics Case</vt:lpstr>
      <vt:lpstr>Expected Insights &amp; Impact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Collins Mtonga</cp:lastModifiedBy>
  <cp:revision>7</cp:revision>
  <dcterms:created xsi:type="dcterms:W3CDTF">2013-01-27T09:14:16Z</dcterms:created>
  <dcterms:modified xsi:type="dcterms:W3CDTF">2026-03-25T15:31:05Z</dcterms:modified>
  <cp:category/>
</cp:coreProperties>
</file>